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1481328"/>
            <a:ext cx="155448" cy="1554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14173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MZAZI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8778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Turning a performance band</a:t>
            </a:r>
          </a:p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into something a parent</a:t>
            </a:r>
          </a:p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can actually do tonight.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00600"/>
            <a:ext cx="292608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512064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94A3B8"/>
                </a:solidFill>
                <a:latin typeface="Segoe UI"/>
              </a:rPr>
              <a:t>CBC report card guidance for Kenyan parents — Kiswahili and English,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94A3B8"/>
                </a:solidFill>
                <a:latin typeface="Segoe UI"/>
              </a:rPr>
              <a:t>working offline by default, reachable from a feature phone.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5989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Consolas"/>
              </a:rPr>
              <a:t>Grades 4–9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0F172A"/>
                </a:solidFill>
                <a:latin typeface="Segoe UI"/>
              </a:rPr>
              <a:t>The card says “AE”.</a:t>
            </a:r>
          </a:p>
          <a:p>
            <a:pPr algn="l">
              <a:lnSpc>
                <a:spcPct val="106000"/>
              </a:lnSpc>
            </a:pPr>
            <a:r>
              <a:rPr sz="4000" b="1">
                <a:solidFill>
                  <a:srgbClr val="0F172A"/>
                </a:solidFill>
                <a:latin typeface="Segoe UI"/>
              </a:rPr>
              <a:t>That is the whole message.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5577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A CBC report card reports a two-letter band per subject and nothing else.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For a parent who did not attend secondary school, it carries no meaning, no sense of whether to worry, and no indication of what to do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2697480"/>
            <a:ext cx="448056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33488" y="302666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Consolas"/>
              </a:rPr>
              <a:t>REPORT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3488" y="35844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Mathematics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95560" y="352044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195560" y="360273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Consolas"/>
              </a:rPr>
              <a:t>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4069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Kiswahili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400507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195560" y="408736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47857"/>
                </a:solidFill>
                <a:latin typeface="Consolas"/>
              </a:rPr>
              <a:t>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5537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Science &amp; Tech.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95560" y="4489704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195560" y="45720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Consolas"/>
              </a:rPr>
              <a:t>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Mzazi Coach translates the band into plain language, then hands the parent one home activity built from things already in the house.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Consolas"/>
              </a:rPr>
              <a:t>FOUR WAYS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0F172A"/>
                </a:solidFill>
                <a:latin typeface="Segoe UI"/>
              </a:rPr>
              <a:t>One processor, four front doors.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697480"/>
            <a:ext cx="2505456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8136" y="2990088"/>
            <a:ext cx="18836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Consolas"/>
              </a:rPr>
              <a:t>01 / 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3319272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Scan the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3904488"/>
            <a:ext cx="188366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Photograph it. OCR reads the subject bands, downscaled on-device first to save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2697480"/>
            <a:ext cx="2505456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94760" y="2990088"/>
            <a:ext cx="18836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Consolas"/>
              </a:rPr>
              <a:t>02 /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319272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Type the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904488"/>
            <a:ext cx="188366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For a creased card or poor light. Short codes and full words are both understood.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697480"/>
            <a:ext cx="2505456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01384" y="2990088"/>
            <a:ext cx="18836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Consolas"/>
              </a:rPr>
              <a:t>03 / USSD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3319272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Feature 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904488"/>
            <a:ext cx="188366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*384*77# — a stateless menu that needs no data bundle and no smartphone.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97112" y="2697480"/>
            <a:ext cx="2505456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08008" y="2990088"/>
            <a:ext cx="18836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Consolas"/>
              </a:rPr>
              <a:t>04 / KICD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3319272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Curriculum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3904488"/>
            <a:ext cx="188366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Ask for a grade and get that week's official home-learning activity directly.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521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Every mode funnels through UnifiedProcessor.process, so behaviour cannot drift between channels.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Consola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600" b="1">
                <a:solidFill>
                  <a:srgbClr val="0F172A"/>
                </a:solidFill>
                <a:latin typeface="Segoe UI"/>
              </a:rPr>
              <a:t>One entry point, five stages.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Consolas"/>
              </a:rPr>
              <a:t>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87168"/>
            <a:ext cx="1920240" cy="658368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68833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Consolas"/>
              </a:rPr>
              <a:t>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3784" y="2487168"/>
            <a:ext cx="1920240" cy="658368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843784" y="268833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Consolas"/>
              </a:rPr>
              <a:t>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10328" y="2487168"/>
            <a:ext cx="1920240" cy="658368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910328" y="268833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Consolas"/>
              </a:rPr>
              <a:t>kicd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76872" y="2487168"/>
            <a:ext cx="1920240" cy="658368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976872" y="268833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Consolas"/>
              </a:rPr>
              <a:t>ussd</a:t>
            </a: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4434840" y="3346704"/>
            <a:ext cx="310896" cy="201168"/>
          </a:xfrm>
          <a:prstGeom prst="triangl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77240" y="3639312"/>
            <a:ext cx="8321040" cy="713232"/>
          </a:xfrm>
          <a:prstGeom prst="roundRect">
            <a:avLst>
              <a:gd name="adj" fmla="val 4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3858768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onsolas"/>
              </a:rPr>
              <a:t>POST /api/process  →  UnifiedProcessor.process</a:t>
            </a:r>
          </a:p>
        </p:txBody>
      </p:sp>
      <p:sp>
        <p:nvSpPr>
          <p:cNvPr id="17" name="Isosceles Triangle 16"/>
          <p:cNvSpPr/>
          <p:nvPr/>
        </p:nvSpPr>
        <p:spPr>
          <a:xfrm rot="10800000">
            <a:off x="4434840" y="4498848"/>
            <a:ext cx="310896" cy="201168"/>
          </a:xfrm>
          <a:prstGeom prst="triangl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777240" y="4791456"/>
            <a:ext cx="1591056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15910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Consola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12080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Normalise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86400"/>
            <a:ext cx="1408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OCR or typed 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4791456"/>
            <a:ext cx="1591056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468880" y="4956048"/>
            <a:ext cx="15910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Consola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212080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Extract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486400"/>
            <a:ext cx="1408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subject + band regex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4791456"/>
            <a:ext cx="1591056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15910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Consola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5212080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Translate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5486400"/>
            <a:ext cx="1408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Claude, else bank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4791456"/>
            <a:ext cx="1591056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852160" y="4956048"/>
            <a:ext cx="15910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Consola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212080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Curriculum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486400"/>
            <a:ext cx="1408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match KICD prompt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4791456"/>
            <a:ext cx="1591056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543800" y="4956048"/>
            <a:ext cx="15910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Consola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5212080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Speech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5486400"/>
            <a:ext cx="1408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Web Speech payload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18320" y="2450592"/>
            <a:ext cx="2651760" cy="2377440"/>
          </a:xfrm>
          <a:prstGeom prst="roundRect">
            <a:avLst>
              <a:gd name="adj" fmla="val 45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674352" y="27066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Consolas"/>
              </a:rPr>
              <a:t>SHORT CIRCUIT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090672"/>
            <a:ext cx="2194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USSD and KICD answer from stage 1 alone — no model call, no OCR, inside the gateway timeout.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Consolas"/>
              </a:rPr>
              <a:t>DESIGN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0F172A"/>
                </a:solidFill>
                <a:latin typeface="Segoe UI"/>
              </a:rPr>
              <a:t>Offline is the normal path,</a:t>
            </a:r>
          </a:p>
          <a:p>
            <a:pPr algn="l">
              <a:lnSpc>
                <a:spcPct val="106000"/>
              </a:lnSpc>
            </a:pPr>
            <a:r>
              <a:rPr sz="4000" b="1">
                <a:solidFill>
                  <a:srgbClr val="0F172A"/>
                </a:solidFill>
                <a:latin typeface="Segoe UI"/>
              </a:rPr>
              <a:t>not the failure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5212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A data bundle is a real cost and signal drops for hours. So the pre-written bank is the default answer, and the model is the optional upgrade.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Consolas"/>
              </a:rPr>
              <a:t>THE BANK SERVES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805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Consola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no API key is configured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097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Consola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480974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the call fails or returns non-2xx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389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Consola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51389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the call exceeds CLAUDE_TIMEOUT_MS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4681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Consola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54681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the reply parses but fails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697480"/>
            <a:ext cx="4937760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76288" y="29992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Consolas"/>
              </a:rPr>
              <a:t>THE OFFLINE BANK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334670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6 subjects × 4 bands = 24 written entries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398678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34155"/>
                </a:solidFill>
                <a:latin typeface="Segoe UI"/>
              </a:rPr>
              <a:t>Mathematics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395020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732520" y="403250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B91C1C"/>
                </a:solidFill>
                <a:latin typeface="Consolas"/>
              </a:rPr>
              <a:t>BE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90888" y="395020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90888" y="403250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B45309"/>
                </a:solidFill>
                <a:latin typeface="Consolas"/>
              </a:rPr>
              <a:t>AE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49256" y="395020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049256" y="403250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47857"/>
                </a:solidFill>
                <a:latin typeface="Consolas"/>
              </a:rPr>
              <a:t>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07624" y="395020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707624" y="403250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D4ED8"/>
                </a:solidFill>
                <a:latin typeface="Consolas"/>
              </a:rPr>
              <a:t>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430682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34155"/>
                </a:solidFill>
                <a:latin typeface="Segoe UI"/>
              </a:rPr>
              <a:t>English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427024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732520" y="435254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B91C1C"/>
                </a:solidFill>
                <a:latin typeface="Consolas"/>
              </a:rPr>
              <a:t>BE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90888" y="427024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90888" y="435254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B45309"/>
                </a:solidFill>
                <a:latin typeface="Consolas"/>
              </a:rPr>
              <a:t>AE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49256" y="427024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49256" y="435254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47857"/>
                </a:solidFill>
                <a:latin typeface="Consolas"/>
              </a:rPr>
              <a:t>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07624" y="427024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707624" y="435254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D4ED8"/>
                </a:solidFill>
                <a:latin typeface="Consolas"/>
              </a:rPr>
              <a:t>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462686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34155"/>
                </a:solidFill>
                <a:latin typeface="Segoe UI"/>
              </a:rPr>
              <a:t>Kiswahili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32520" y="459028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732520" y="467258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B91C1C"/>
                </a:solidFill>
                <a:latin typeface="Consolas"/>
              </a:rPr>
              <a:t>BE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90888" y="459028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390888" y="467258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B45309"/>
                </a:solidFill>
                <a:latin typeface="Consolas"/>
              </a:rPr>
              <a:t>AE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49256" y="459028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0049256" y="467258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47857"/>
                </a:solidFill>
                <a:latin typeface="Consolas"/>
              </a:rPr>
              <a:t>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07624" y="459028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707624" y="467258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D4ED8"/>
                </a:solidFill>
                <a:latin typeface="Consolas"/>
              </a:rPr>
              <a:t>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76288" y="494690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34155"/>
                </a:solidFill>
                <a:latin typeface="Segoe UI"/>
              </a:rPr>
              <a:t>Science &amp; Tech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32520" y="491032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732520" y="499262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B91C1C"/>
                </a:solidFill>
                <a:latin typeface="Consolas"/>
              </a:rPr>
              <a:t>BE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90888" y="491032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390888" y="499262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B45309"/>
                </a:solidFill>
                <a:latin typeface="Consolas"/>
              </a:rPr>
              <a:t>AE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49256" y="491032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0049256" y="499262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47857"/>
                </a:solidFill>
                <a:latin typeface="Consolas"/>
              </a:rPr>
              <a:t>ME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707624" y="491032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0707624" y="499262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D4ED8"/>
                </a:solidFill>
                <a:latin typeface="Consolas"/>
              </a:rPr>
              <a:t>EE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76288" y="52669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34155"/>
                </a:solidFill>
                <a:latin typeface="Segoe UI"/>
              </a:rPr>
              <a:t>Social Studies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32520" y="523036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732520" y="531266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B91C1C"/>
                </a:solidFill>
                <a:latin typeface="Consolas"/>
              </a:rPr>
              <a:t>BE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90888" y="523036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390888" y="531266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B45309"/>
                </a:solidFill>
                <a:latin typeface="Consolas"/>
              </a:rPr>
              <a:t>AE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049256" y="523036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0049256" y="531266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47857"/>
                </a:solidFill>
                <a:latin typeface="Consolas"/>
              </a:rPr>
              <a:t>ME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707624" y="523036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0707624" y="531266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D4ED8"/>
                </a:solidFill>
                <a:latin typeface="Consolas"/>
              </a:rPr>
              <a:t>EE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76288" y="558698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34155"/>
                </a:solidFill>
                <a:latin typeface="Segoe UI"/>
              </a:rPr>
              <a:t>Creative Arts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732520" y="555040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8732520" y="563270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B91C1C"/>
                </a:solidFill>
                <a:latin typeface="Consolas"/>
              </a:rPr>
              <a:t>BE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390888" y="555040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9390888" y="563270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B45309"/>
                </a:solidFill>
                <a:latin typeface="Consolas"/>
              </a:rPr>
              <a:t>AE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049256" y="555040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0049256" y="563270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47857"/>
                </a:solidFill>
                <a:latin typeface="Consolas"/>
              </a:rPr>
              <a:t>ME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707624" y="555040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10707624" y="563270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D4ED8"/>
                </a:solidFill>
                <a:latin typeface="Consolas"/>
              </a:rPr>
              <a:t>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Consolas"/>
              </a:rPr>
              <a:t>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0F172A"/>
                </a:solidFill>
                <a:latin typeface="Segoe UI"/>
              </a:rPr>
              <a:t>No smartphone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697480"/>
            <a:ext cx="3200400" cy="3108960"/>
          </a:xfrm>
          <a:prstGeom prst="roundRect">
            <a:avLst>
              <a:gd name="adj" fmla="val 45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24712" y="3081528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F8FAFC"/>
                </a:solidFill>
                <a:latin typeface="Consolas"/>
              </a:rPr>
              <a:t>Karibu Mzazi Coach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F8FAFC"/>
                </a:solidFill>
                <a:latin typeface="Consola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F8FAFC"/>
                </a:solidFill>
                <a:latin typeface="Consolas"/>
              </a:rPr>
              <a:t>1. Subject Band Guide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F8FAFC"/>
                </a:solidFill>
                <a:latin typeface="Consolas"/>
              </a:rPr>
              <a:t>2. Today's KICD Activity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F8FAFC"/>
                </a:solidFill>
                <a:latin typeface="Consolas"/>
              </a:rPr>
              <a:t>3. Switch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" y="5093208"/>
            <a:ext cx="2514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24712" y="527608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Consolas"/>
              </a:rPr>
              <a:t>*384*77#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The USSD handler is stateless. The gateway replays the full keypress path on every hop, so any serverless instance can answer without shared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922775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563EB"/>
                </a:solidFill>
                <a:latin typeface="Consolas"/>
              </a:rPr>
              <a:t>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3977639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character ceiling per page, computed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from the header rather than guessed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581143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563EB"/>
                </a:solidFill>
                <a:latin typeface="Consolas"/>
              </a:rP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4636007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reachable menu paths, each asserted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against that ceiling in the test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239511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563EB"/>
                </a:solidFill>
                <a:latin typeface="Consola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5294375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kilobytes of data bundle required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to reach the same guidance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Consolas"/>
              </a:rPr>
              <a:t>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0F172A"/>
                </a:solidFill>
                <a:latin typeface="Segoe UI"/>
              </a:rPr>
              <a:t>Kiswahili is the system,</a:t>
            </a:r>
          </a:p>
          <a:p>
            <a:pPr algn="l">
              <a:lnSpc>
                <a:spcPct val="106000"/>
              </a:lnSpc>
            </a:pPr>
            <a:r>
              <a:rPr sz="4000" b="1">
                <a:solidFill>
                  <a:srgbClr val="0F172A"/>
                </a:solidFill>
                <a:latin typeface="Segoe UI"/>
              </a:rPr>
              <a:t>not a setting on one 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80360"/>
            <a:ext cx="5029200" cy="2514600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43000" y="31546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Consolas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520440"/>
            <a:ext cx="4297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A dropdown on each form, affecting only the result text.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Navigation, buttons, hints and errors stayed in English — so a parent who reads Kiswahili still had to read English to reach the Kiswahili.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880360"/>
            <a:ext cx="5029200" cy="2514600"/>
          </a:xfrm>
          <a:prstGeom prst="roundRect">
            <a:avLst>
              <a:gd name="adj" fmla="val 45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7960" y="31546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Consolas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3520440"/>
            <a:ext cx="4297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One switch in the masthead governs the whole interface, persists between visits, and updates the document language for screen readers.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Each option is labelled in its own language.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06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The English dictionary is typed from the Kiswahili one — a missing translation is a compile error, not a blank 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Consolas"/>
              </a:rPr>
              <a:t>CURRICULUM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0F172A"/>
                </a:solidFill>
                <a:latin typeface="Segoe UI"/>
              </a:rPr>
              <a:t>Both channels, same activity,</a:t>
            </a:r>
          </a:p>
          <a:p>
            <a:pPr algn="l">
              <a:lnSpc>
                <a:spcPct val="106000"/>
              </a:lnSpc>
            </a:pPr>
            <a:r>
              <a:rPr sz="4000" b="1">
                <a:solidFill>
                  <a:srgbClr val="0F172A"/>
                </a:solidFill>
                <a:latin typeface="Segoe UI"/>
              </a:rPr>
              <a:t>same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A shared module now backs both the web processor and the USSD handler, so a parent on a feature phone and a parent on a smartphone are told to do the same 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434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Consolas"/>
              </a:rPr>
              <a:t>SELECTION IS DETERMINISTIC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Rotation is pinned to East Africa Time, so the answer does not depend on which region the server happens to run in — and a teacher can predict what went home.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43200"/>
            <a:ext cx="5029200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84848" y="30358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Consolas"/>
              </a:rPr>
              <a:t>USSD  ·  2 → GRADE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3401568"/>
            <a:ext cx="425196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84848" y="3611880"/>
            <a:ext cx="42976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Consolas"/>
              </a:rPr>
              <a:t>END Grade 7 Science &amp; Technology Wk1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Consola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Consolas"/>
              </a:rPr>
              <a:t>Tengenezeni kichujio kwa chupa, mkaa,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Consolas"/>
              </a:rPr>
              <a:t>mchanga na kokoto. Jadilini kwa nini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Consolas"/>
              </a:rPr>
              <a:t>kuchemsha bado ni muhimu.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53218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137 / 182 characters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Consolas"/>
              </a:rPr>
              <a:t>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600" b="1">
                <a:solidFill>
                  <a:srgbClr val="0F172A"/>
                </a:solidFill>
                <a:latin typeface="Segoe UI"/>
              </a:rPr>
              <a:t>Where the work lives.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106372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Consolas"/>
              </a:rPr>
              <a:t>lib/types.ts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139696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Shared contracts for every 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14016"/>
            <a:ext cx="106372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52374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Consolas"/>
              </a:rPr>
              <a:t>lib/ocr.ts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523744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Tesseract runner, band regex, normalisation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98064"/>
            <a:ext cx="106372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29077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Consolas"/>
              </a:rPr>
              <a:t>lib/offline-bank.ts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90779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Pre-written guidance, 6 subjects × 4 bands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182112"/>
            <a:ext cx="106372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Consolas"/>
              </a:rPr>
              <a:t>lib/claude.ts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2918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Model call, reply validation, offline fallback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566160"/>
            <a:ext cx="106372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6758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Consolas"/>
              </a:rPr>
              <a:t>lib/kicd.ts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67588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Shared curriculum resolver and daily rotation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950208"/>
            <a:ext cx="106372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40599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Consolas"/>
              </a:rPr>
              <a:t>lib/ussd.ts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059936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Stateless menu machine, page budgeting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34256"/>
            <a:ext cx="106372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44439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Consolas"/>
              </a:rPr>
              <a:t>lib/i18n.ts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443984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System-wide Kiswahili / English dictionary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718304"/>
            <a:ext cx="106372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48280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Consolas"/>
              </a:rPr>
              <a:t>lib/processor.ts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82803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Stage orchestration for all four modes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106372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Consolas"/>
              </a:rPr>
              <a:t>app/api/process/route.ts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2120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Single HTTP entry point (Node runtime)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486400"/>
            <a:ext cx="106372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" y="57607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Consolas"/>
              </a:rPr>
              <a:t>Next.js 15 · React 19 · TypeScript strict · Vitest · tesseract.js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Consolas"/>
              </a:rPr>
              <a:t>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0F172A"/>
                </a:solidFill>
                <a:latin typeface="Segoe UI"/>
              </a:rPr>
              <a:t>Green, and honest about</a:t>
            </a:r>
          </a:p>
          <a:p>
            <a:pPr algn="l">
              <a:lnSpc>
                <a:spcPct val="106000"/>
              </a:lnSpc>
            </a:pPr>
            <a:r>
              <a:rPr sz="4000" b="1">
                <a:solidFill>
                  <a:srgbClr val="0F172A"/>
                </a:solidFill>
                <a:latin typeface="Segoe UI"/>
              </a:rPr>
              <a:t>what is 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80360"/>
            <a:ext cx="2505456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127248"/>
            <a:ext cx="25054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Consola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67328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tests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2880360"/>
            <a:ext cx="2505456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83864" y="3127248"/>
            <a:ext cx="25054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Consolas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3767328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type errors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880360"/>
            <a:ext cx="2505456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90488" y="3127248"/>
            <a:ext cx="25054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Consolas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3767328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routes building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97112" y="2880360"/>
            <a:ext cx="2505456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897112" y="3127248"/>
            <a:ext cx="25054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3767328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lint 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334155"/>
                </a:solidFill>
                <a:latin typeface="Segoe UI"/>
              </a:rPr>
              <a:t>A full audit found 21 issues. The build passing is not the same as the system being trustworthy — the two most serious findings both hide behind a green suite.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Consolas"/>
              </a:rPr>
              <a:t>AUDIT · 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0F172A"/>
                </a:solidFill>
                <a:latin typeface="Segoe UI"/>
              </a:rPr>
              <a:t>Two findings that matter</a:t>
            </a:r>
          </a:p>
          <a:p>
            <a:pPr algn="l">
              <a:lnSpc>
                <a:spcPct val="106000"/>
              </a:lnSpc>
            </a:pPr>
            <a:r>
              <a:rPr sz="4000" b="1">
                <a:solidFill>
                  <a:srgbClr val="0F172A"/>
                </a:solidFill>
                <a:latin typeface="Segoe UI"/>
              </a:rPr>
              <a:t>before anything else.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80360"/>
            <a:ext cx="5029200" cy="2834640"/>
          </a:xfrm>
          <a:prstGeom prst="roundRect">
            <a:avLst>
              <a:gd name="adj" fmla="val 45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43000" y="31546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91C1C"/>
                </a:solidFill>
                <a:latin typeface="Consolas"/>
              </a:rPr>
              <a:t>F-1  · 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52044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F172A"/>
                </a:solidFill>
                <a:latin typeface="Segoe UI"/>
              </a:rPr>
              <a:t>Failed OCR invents a report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160520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The demo fallback string is re-read at 0.92 confidence, so the “sample data” warning never fires. A parent sees three fabricated bands quoted as if read off the card.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880360"/>
            <a:ext cx="5029200" cy="2834640"/>
          </a:xfrm>
          <a:prstGeom prst="roundRect">
            <a:avLst>
              <a:gd name="adj" fmla="val 45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37960" y="31546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45309"/>
                </a:solidFill>
                <a:latin typeface="Consolas"/>
              </a:rPr>
              <a:t>F-4  · 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52044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F172A"/>
                </a:solidFill>
                <a:latin typeface="Segoe UI"/>
              </a:rPr>
              <a:t>The online path is dead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160520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The configured model was retired in October 2025 and returns 404. The fallback swallows it, so a deployment with a key set silently never calls the model at 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Consolas"/>
              </a:rPr>
              <a:t>AUDIT ·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600" b="1">
                <a:solidFill>
                  <a:srgbClr val="0F172A"/>
                </a:solidFill>
                <a:latin typeface="Segoe UI"/>
              </a:rPr>
              <a:t>Nineteen more, sorted.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45309"/>
                </a:solidFill>
                <a:latin typeface="Consolas"/>
              </a:rP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228600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Unknown mode values return success with invented bands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59689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No body-size cap, schema validation or rate limit on the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90779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Model reply length never checked against input 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027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Consolas"/>
              </a:rPr>
              <a:t>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360273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“Offline-first” still needs a network round trip per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91363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Fonts and OCR language data both fetched from CDNs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4224528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KICD data is 12 seed rows, presented without 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453542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Claude path, API route, OCR and components all untested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036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Consolas"/>
              </a:rPr>
              <a:t>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5230368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No CI, no service worker, no manifest or icons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554126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Observability is two console.warn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585216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5.2 MB of committed language data referenced by nothing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Consola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600" b="1">
                <a:solidFill>
                  <a:srgbClr val="0F172A"/>
                </a:solidFill>
                <a:latin typeface="Segoe UI"/>
              </a:rPr>
              <a:t>Order of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2257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304288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172A"/>
                </a:solidFill>
                <a:latin typeface="Segoe UI"/>
              </a:rPr>
              <a:t>Remove the fabricated OCR fallback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06040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Nothing else on the list can mislead a parent the way this can. It is a deletion.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926080"/>
            <a:ext cx="896112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309981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081528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172A"/>
                </a:solidFill>
                <a:latin typeface="Segoe UI"/>
              </a:rPr>
              <a:t>Move off the retired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83280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Or drop the online path entirely and own the offline story honestly.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3703320"/>
            <a:ext cx="896112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387705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58768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172A"/>
                </a:solidFill>
                <a:latin typeface="Segoe UI"/>
              </a:rPr>
              <a:t>Validate at the route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Parse instead of cast, cap body size, bound OCR concurrency, add rate limiting.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4480560"/>
            <a:ext cx="896112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465429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Consola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36008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172A"/>
                </a:solidFill>
                <a:latin typeface="Segoe UI"/>
              </a:rPr>
              <a:t>Cover the Claude path and add 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937760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Mock fetch, test the branch that currently fails silently, run all three scripts on push.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5257800"/>
            <a:ext cx="896112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543153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Consola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413248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172A"/>
                </a:solidFill>
                <a:latin typeface="Segoe UI"/>
              </a:rPr>
              <a:t>Verify the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715000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KICD strands against the current design; a native-speaker pass on the Kiswahili.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9601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Offline is not the degraded mode.</a:t>
            </a:r>
          </a:p>
          <a:p>
            <a:pPr algn="l">
              <a:lnSpc>
                <a:spcPct val="112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It is the mode.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160520"/>
            <a:ext cx="292608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4480560"/>
            <a:ext cx="8595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94A3B8"/>
                </a:solidFill>
                <a:latin typeface="Segoe UI"/>
              </a:rPr>
              <a:t>Every design decision in Mzazi Coach follows from one assumption: the parent has no bundle, no smartphone, and no patience for an error screen.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5870448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14984" y="5806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4748B"/>
                </a:solidFill>
                <a:latin typeface="Consolas"/>
              </a:rPr>
              <a:t>MZAZI COACH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